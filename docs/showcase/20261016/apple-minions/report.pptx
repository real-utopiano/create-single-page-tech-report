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cf7f1d6594192" /><Relationship Type="http://schemas.openxmlformats.org/officeDocument/2006/relationships/extended-properties" Target="/docProps/app.xml" Id="R9ef94d2692e04570" /><Relationship Type="http://schemas.openxmlformats.org/officeDocument/2006/relationships/officeDocument" Target="/ppt/presentation.xml" Id="R66e84234cf6243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0ced23fec24e35"/>
  </p:sldMasterIdLst>
  <p:notesMasterIdLst>
    <p:notesMasterId xmlns:r="http://schemas.openxmlformats.org/officeDocument/2006/relationships" r:id="R012ac2b668b9462a"/>
  </p:notesMasterIdLst>
  <p:sldIdLst>
    <p:sldId xmlns:r="http://schemas.openxmlformats.org/officeDocument/2006/relationships" id="256" r:id="R063ebd418f8f45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8d3b0557846fb" /><Relationship Type="http://schemas.openxmlformats.org/officeDocument/2006/relationships/slideMaster" Target="/ppt/slideMasters/slideMaster1.xml" Id="R7e0ced23fec24e35" /><Relationship Type="http://schemas.openxmlformats.org/officeDocument/2006/relationships/notesMaster" Target="/ppt/notesMasters/notesMaster1.xml" Id="R012ac2b668b9462a" /><Relationship Type="http://schemas.openxmlformats.org/officeDocument/2006/relationships/presProps" Target="/ppt/presProps.xml" Id="Rcfd07e5174dc46fb" /><Relationship Type="http://schemas.openxmlformats.org/officeDocument/2006/relationships/tableStyles" Target="/ppt/tableStyles.xml" Id="R5cb5224933de4b55" /><Relationship Type="http://schemas.openxmlformats.org/officeDocument/2006/relationships/slide" Target="/ppt/slides/slide1.xml" Id="R063ebd418f8f45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62261a245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ede5d5b7e49ca" /><Relationship Type="http://schemas.openxmlformats.org/officeDocument/2006/relationships/notesMaster" Target="/ppt/notesMasters/notesMaster1.xml" Id="Rd9f62c9bbce7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唯一一手来源：https://arxiv.org/abs/2610.12970；全文 https://arxiv.org/html/2610.12970v1。Figure 1 为论文原图。§4与Table 1为运营经验，非标准化基准；指标仅为队列等待。适用建议为基于机制的分析。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8d707a4d148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b3953616244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de6730f5d47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377aa5fd643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dab4c79274a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4a37d2bd1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2FB81E-C683-43DB-B53C-720F8F137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Microsoft YaHei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C7D8AF-BFA9-40F0-BCFA-24494D622C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Microsoft YaHei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158EB1-F273-4295-8175-6B931605D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Microsoft YaHei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1AED8-4F3D-4C4F-82D4-D4E78276C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Microsoft YaHei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A3082A-0BC8-4886-B83D-19FFAEFB2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Microsoft YaHei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609F3E-77B7-46AB-AEB3-B8BA3086C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Microsoft YaHei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B152D0-4C2C-4732-BF47-B59B7B6D1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Microsoft YaHei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959E3A-36BB-4883-8DDE-46BF8C59E3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Microsoft YaHei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4E56E8-041B-4A5E-BB61-7A3FF3B8B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Microsoft YaHei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0C445B-E0BD-472D-AC99-4295B87B3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Microsoft YaHei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da627b71e4cb2" /><Relationship Type="http://schemas.openxmlformats.org/officeDocument/2006/relationships/slideLayout" Target="/ppt/slideLayouts/slideLayout1.xml" Id="R44765ac776a14e4d" /><Relationship Type="http://schemas.openxmlformats.org/officeDocument/2006/relationships/slideLayout" Target="/ppt/slideLayouts/slideLayout2.xml" Id="R48e89ec3dc4f4201" /><Relationship Type="http://schemas.openxmlformats.org/officeDocument/2006/relationships/slideLayout" Target="/ppt/slideLayouts/slideLayout3.xml" Id="R084d8f0c66ac498c" /><Relationship Type="http://schemas.openxmlformats.org/officeDocument/2006/relationships/slideLayout" Target="/ppt/slideLayouts/slideLayout4.xml" Id="Rdec4fa4c9c3249ca" /><Relationship Type="http://schemas.openxmlformats.org/officeDocument/2006/relationships/slideLayout" Target="/ppt/slideLayouts/slideLayout5.xml" Id="Rc707bafc48da4133" /><Relationship Type="http://schemas.openxmlformats.org/officeDocument/2006/relationships/slideLayout" Target="/ppt/slideLayouts/slideLayout6.xml" Id="Ra9850ccd4126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65ac776a14e4d"/>
    <p:sldLayoutId xmlns:r="http://schemas.openxmlformats.org/officeDocument/2006/relationships" id="2147483650" r:id="R48e89ec3dc4f4201"/>
    <p:sldLayoutId xmlns:r="http://schemas.openxmlformats.org/officeDocument/2006/relationships" id="2147483651" r:id="R084d8f0c66ac498c"/>
    <p:sldLayoutId xmlns:r="http://schemas.openxmlformats.org/officeDocument/2006/relationships" id="2147483652" r:id="Rdec4fa4c9c3249ca"/>
    <p:sldLayoutId xmlns:r="http://schemas.openxmlformats.org/officeDocument/2006/relationships" id="2147483653" r:id="Rc707bafc48da4133"/>
    <p:sldLayoutId xmlns:r="http://schemas.openxmlformats.org/officeDocument/2006/relationships" id="2147483654" r:id="Ra9850ccd4126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Microsoft YaHei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Microsoft YaHei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Microsoft YaHei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Microsoft YaHei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Microsoft YaHei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7908735104a94" /><Relationship Type="http://schemas.openxmlformats.org/officeDocument/2006/relationships/image" Target="/ppt/media/image.png" Id="R23b5d2a8de394103" /><Relationship Type="http://schemas.openxmlformats.org/officeDocument/2006/relationships/notesSlide" Target="/ppt/notesSlides/notesSlide1.xml" Id="R8ac772817e7f4a1d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">
            <a:extLst>
              <a:ext uri="{FF2B5EF4-FFF2-40B4-BE49-F238E27FC236}">
                <a16:creationId id="{D5761991-0E7D-40DB-BD63-183266BA2E21}"/>
              </a:ext>
            </a:extLst>
          </p:cNvPr>
          <p:cNvSpPr>
            <a:spLocks/>
          </p:cNvSpPr>
          <p:nvPr/>
        </p:nvSpPr>
        <p:spPr>
          <a:xfrm>
            <a:off x="342900" y="247650"/>
            <a:ext cx="11506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21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2175" b="1">
                <a:latin typeface="Arial"/>
                <a:ea typeface="Microsoft YaHei"/>
                <a:cs typeface="Microsoft YaHei"/>
              </a:rPr>
              <a:t>Apple 用闲置 Mac GPU 分担推理作业，缩短排队等待</a:t>
            </a:r>
          </a:p>
        </p:txBody>
      </p:sp>
      <p:sp>
        <p:nvSpPr>
          <p:cNvPr id="2" name="">
            <a:extLst>
              <a:ext uri="{FF2B5EF4-FFF2-40B4-BE49-F238E27FC236}">
                <a16:creationId id="{141E7E4A-41D5-4FEF-A4E9-C19C524F316E}"/>
              </a:ext>
            </a:extLst>
          </p:cNvPr>
          <p:cNvSpPr>
            <a:spLocks/>
          </p:cNvSpPr>
          <p:nvPr/>
        </p:nvSpPr>
        <p:spPr>
          <a:xfrm>
            <a:off x="342900" y="828675"/>
            <a:ext cx="11506200" cy="7239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DF821BCC-D2E4-49B7-BFF4-9A363B4CB4AE}"/>
              </a:ext>
            </a:extLst>
          </p:cNvPr>
          <p:cNvSpPr>
            <a:spLocks/>
          </p:cNvSpPr>
          <p:nvPr/>
        </p:nvSpPr>
        <p:spPr>
          <a:xfrm>
            <a:off x="476250" y="923925"/>
            <a:ext cx="112204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latin typeface="Arial"/>
                <a:ea typeface="Microsoft YaHei"/>
                <a:cs typeface="Microsoft YaHei"/>
              </a:rPr>
              <a:t>2026 年 10 月，Apple 研究人员发表 Minions：将现有 Apple Silicon Mac 组成分布式推理资源池；团队观察到部分作业此前等待超过 10 小时，采用后常能在数分钟内开始执行。</a:t>
            </a:r>
          </a:p>
        </p:txBody>
      </p:sp>
      <p:sp>
        <p:nvSpPr>
          <p:cNvPr id="4" name="">
            <a:extLst>
              <a:ext uri="{FF2B5EF4-FFF2-40B4-BE49-F238E27FC236}">
                <a16:creationId id="{B7A3BDFA-5BF7-461C-A947-EFF315DB6A43}"/>
              </a:ext>
            </a:extLst>
          </p:cNvPr>
          <p:cNvSpPr>
            <a:spLocks/>
          </p:cNvSpPr>
          <p:nvPr/>
        </p:nvSpPr>
        <p:spPr>
          <a:xfrm>
            <a:off x="342900" y="1647825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425" b="1">
                <a:latin typeface="Arial"/>
                <a:ea typeface="Microsoft YaHei"/>
                <a:cs typeface="Microsoft YaHei"/>
              </a:rPr>
              <a:t>问题｜集中式 GPU 紧张</a:t>
            </a:r>
          </a:p>
        </p:txBody>
      </p:sp>
      <p:sp>
        <p:nvSpPr>
          <p:cNvPr id="5" name="">
            <a:extLst>
              <a:ext uri="{FF2B5EF4-FFF2-40B4-BE49-F238E27FC236}">
                <a16:creationId id="{0F80B478-CF4E-444A-8F9A-A7E4A7FA3B37}"/>
              </a:ext>
            </a:extLst>
          </p:cNvPr>
          <p:cNvSpPr>
            <a:spLocks/>
          </p:cNvSpPr>
          <p:nvPr/>
        </p:nvSpPr>
        <p:spPr>
          <a:xfrm>
            <a:off x="342900" y="2095500"/>
            <a:ext cx="2552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275" b="1">
                <a:latin typeface="Arial"/>
                <a:ea typeface="Microsoft YaHei"/>
                <a:cs typeface="Microsoft YaHei"/>
              </a:rPr>
              <a:t>作业被迫等待</a:t>
            </a:r>
          </a:p>
        </p:txBody>
      </p:sp>
      <p:sp>
        <p:nvSpPr>
          <p:cNvPr id="6" name="">
            <a:extLst>
              <a:ext uri="{FF2B5EF4-FFF2-40B4-BE49-F238E27FC236}">
                <a16:creationId id="{1C33881E-E257-4C80-BA96-641169B8D591}"/>
              </a:ext>
            </a:extLst>
          </p:cNvPr>
          <p:cNvSpPr>
            <a:spLocks/>
          </p:cNvSpPr>
          <p:nvPr/>
        </p:nvSpPr>
        <p:spPr>
          <a:xfrm>
            <a:off x="342900" y="2390775"/>
            <a:ext cx="2552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共享显卡资源受限，部分推理作业排队超过十小时，拖慢实验迭代。</a:t>
            </a:r>
          </a:p>
        </p:txBody>
      </p:sp>
      <p:sp>
        <p:nvSpPr>
          <p:cNvPr id="7" name="">
            <a:extLst>
              <a:ext uri="{FF2B5EF4-FFF2-40B4-BE49-F238E27FC236}">
                <a16:creationId id="{8C9CDDAA-A216-4FDD-B472-BE1A270BA7EC}"/>
              </a:ext>
            </a:extLst>
          </p:cNvPr>
          <p:cNvSpPr>
            <a:spLocks/>
          </p:cNvSpPr>
          <p:nvPr/>
        </p:nvSpPr>
        <p:spPr>
          <a:xfrm>
            <a:off x="342900" y="3200400"/>
            <a:ext cx="2514600" cy="9525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a16:creationId id="{3F0D6E00-D357-4890-A46A-4C4700457964}"/>
              </a:ext>
            </a:extLst>
          </p:cNvPr>
          <p:cNvSpPr>
            <a:spLocks/>
          </p:cNvSpPr>
          <p:nvPr/>
        </p:nvSpPr>
        <p:spPr>
          <a:xfrm>
            <a:off x="342900" y="3381375"/>
            <a:ext cx="2552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275" b="1">
                <a:latin typeface="Arial"/>
                <a:ea typeface="Microsoft YaHei"/>
                <a:cs typeface="Microsoft YaHei"/>
              </a:rPr>
              <a:t>已有算力闲置</a:t>
            </a:r>
          </a:p>
        </p:txBody>
      </p:sp>
      <p:sp>
        <p:nvSpPr>
          <p:cNvPr id="9" name="">
            <a:extLst>
              <a:ext uri="{FF2B5EF4-FFF2-40B4-BE49-F238E27FC236}">
                <a16:creationId id="{898AEA08-D838-4760-9562-3BF2789F4619}"/>
              </a:ext>
            </a:extLst>
          </p:cNvPr>
          <p:cNvSpPr>
            <a:spLocks/>
          </p:cNvSpPr>
          <p:nvPr/>
        </p:nvSpPr>
        <p:spPr>
          <a:xfrm>
            <a:off x="342900" y="3686175"/>
            <a:ext cx="25527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日常办公未充分利用设备显卡；但设备可能休眠、断网或被用户退出。</a:t>
            </a:r>
          </a:p>
        </p:txBody>
      </p:sp>
      <p:sp>
        <p:nvSpPr>
          <p:cNvPr id="10" name="">
            <a:extLst>
              <a:ext uri="{FF2B5EF4-FFF2-40B4-BE49-F238E27FC236}">
                <a16:creationId id="{77728072-16EE-463E-8B2D-33F4F69F9E9C}"/>
              </a:ext>
            </a:extLst>
          </p:cNvPr>
          <p:cNvSpPr>
            <a:spLocks/>
          </p:cNvSpPr>
          <p:nvPr/>
        </p:nvSpPr>
        <p:spPr>
          <a:xfrm>
            <a:off x="342900" y="4695825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latin typeface="Arial"/>
                <a:ea typeface="Microsoft YaHei"/>
                <a:cs typeface="Microsoft YaHei"/>
              </a:rPr>
              <a:t>适合可拆分、允许设备波动的批量推理任务。</a:t>
            </a:r>
          </a:p>
        </p:txBody>
      </p:sp>
      <p:sp>
        <p:nvSpPr>
          <p:cNvPr id="11" name="">
            <a:extLst>
              <a:ext uri="{FF2B5EF4-FFF2-40B4-BE49-F238E27FC236}">
                <a16:creationId id="{50EBDAB1-EE1D-4BDB-8692-8EF2D32D7194}"/>
              </a:ext>
            </a:extLst>
          </p:cNvPr>
          <p:cNvSpPr>
            <a:spLocks/>
          </p:cNvSpPr>
          <p:nvPr/>
        </p:nvSpPr>
        <p:spPr>
          <a:xfrm>
            <a:off x="3105150" y="1647825"/>
            <a:ext cx="5486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425" b="1">
                <a:latin typeface="Arial"/>
                <a:ea typeface="Microsoft YaHei"/>
                <a:cs typeface="Microsoft YaHei"/>
              </a:rPr>
              <a:t>方法｜子任务拉取 + 故障回收</a:t>
            </a:r>
          </a:p>
        </p:txBody>
      </p:sp>
      <p:pic>
        <p:nvPicPr>
          <p:cNvPr id="12" name="">
            <a:extLst>
              <a:ext uri="{FF2B5EF4-FFF2-40B4-BE49-F238E27FC236}">
                <a16:creationId id="{7E5999A4-E664-4507-9B15-FE2E1FCFA511}"/>
              </a:ext>
            </a:extLst>
          </p:cNvPr>
          <p:cNvPicPr>
            <a:picLocks noChangeAspect="1"/>
          </p:cNvPicPr>
          <p:nvPr/>
        </p:nvPicPr>
        <p:blipFill>
          <a:blip r:embed="R23b5d2a8de394103"/>
          <a:stretch/>
        </p:blipFill>
        <p:spPr>
          <a:xfrm>
            <a:off x="3105150" y="2038783"/>
            <a:ext cx="5429250" cy="2961409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a16:creationId id="{A6226801-C072-4C13-ACC5-25E9447890B5}"/>
              </a:ext>
            </a:extLst>
          </p:cNvPr>
          <p:cNvSpPr>
            <a:spLocks/>
          </p:cNvSpPr>
          <p:nvPr/>
        </p:nvSpPr>
        <p:spPr>
          <a:xfrm>
            <a:off x="3105150" y="5105400"/>
            <a:ext cx="5429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① Server 拆分任务；Executor 经 REST API 原子领取</a:t>
            </a:r>
          </a:p>
        </p:txBody>
      </p:sp>
      <p:sp>
        <p:nvSpPr>
          <p:cNvPr id="14" name="">
            <a:extLst>
              <a:ext uri="{FF2B5EF4-FFF2-40B4-BE49-F238E27FC236}">
                <a16:creationId id="{8735059D-9C66-4531-BA01-1345E0CFD10A}"/>
              </a:ext>
            </a:extLst>
          </p:cNvPr>
          <p:cNvSpPr>
            <a:spLocks/>
          </p:cNvSpPr>
          <p:nvPr/>
        </p:nvSpPr>
        <p:spPr>
          <a:xfrm>
            <a:off x="3105150" y="5391150"/>
            <a:ext cx="5429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② Mac 本地执行；S3 存输入输出；Watchdog 回收失联任务</a:t>
            </a:r>
          </a:p>
        </p:txBody>
      </p:sp>
      <p:sp>
        <p:nvSpPr>
          <p:cNvPr id="15" name="">
            <a:extLst>
              <a:ext uri="{FF2B5EF4-FFF2-40B4-BE49-F238E27FC236}">
                <a16:creationId id="{6D48BF0A-E8E6-4F9C-B33D-760909066CC0}"/>
              </a:ext>
            </a:extLst>
          </p:cNvPr>
          <p:cNvSpPr>
            <a:spLocks/>
          </p:cNvSpPr>
          <p:nvPr/>
        </p:nvSpPr>
        <p:spPr>
          <a:xfrm>
            <a:off x="3105150" y="5676900"/>
            <a:ext cx="5429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05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0">
                <a:latin typeface="Arial"/>
                <a:ea typeface="Microsoft YaHei"/>
                <a:cs typeface="Microsoft YaHei"/>
              </a:rPr>
              <a:t>支持向量生成（Transformers）与文本生成（Ollama）。</a:t>
            </a:r>
          </a:p>
        </p:txBody>
      </p:sp>
      <p:sp>
        <p:nvSpPr>
          <p:cNvPr id="16" name="">
            <a:extLst>
              <a:ext uri="{FF2B5EF4-FFF2-40B4-BE49-F238E27FC236}">
                <a16:creationId id="{B3C6F5F0-E43B-4B16-A9AF-79E53B311F2C}"/>
              </a:ext>
            </a:extLst>
          </p:cNvPr>
          <p:cNvSpPr>
            <a:spLocks/>
          </p:cNvSpPr>
          <p:nvPr/>
        </p:nvSpPr>
        <p:spPr>
          <a:xfrm>
            <a:off x="8782050" y="1647825"/>
            <a:ext cx="3067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425" b="1">
                <a:latin typeface="Arial"/>
                <a:ea typeface="Microsoft YaHei"/>
                <a:cs typeface="Microsoft YaHei"/>
              </a:rPr>
              <a:t>效果｜更快开始执行</a:t>
            </a:r>
          </a:p>
        </p:txBody>
      </p:sp>
      <p:sp>
        <p:nvSpPr>
          <p:cNvPr id="17" name="">
            <a:extLst>
              <a:ext uri="{FF2B5EF4-FFF2-40B4-BE49-F238E27FC236}">
                <a16:creationId id="{02A96E21-431D-4A7E-8097-1EA989EDFA3F}"/>
              </a:ext>
            </a:extLst>
          </p:cNvPr>
          <p:cNvSpPr>
            <a:spLocks/>
          </p:cNvSpPr>
          <p:nvPr/>
        </p:nvSpPr>
        <p:spPr>
          <a:xfrm>
            <a:off x="8782050" y="2114550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21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2175" b="1">
                <a:latin typeface="Arial"/>
                <a:ea typeface="Microsoft YaHei"/>
                <a:cs typeface="Microsoft YaHei"/>
              </a:rPr>
              <a:t>&gt;10 小时 → 分钟</a:t>
            </a:r>
          </a:p>
        </p:txBody>
      </p:sp>
      <p:sp>
        <p:nvSpPr>
          <p:cNvPr id="18" name="">
            <a:extLst>
              <a:ext uri="{FF2B5EF4-FFF2-40B4-BE49-F238E27FC236}">
                <a16:creationId id="{32BF3221-931D-4780-9216-3C464963D8D4}"/>
              </a:ext>
            </a:extLst>
          </p:cNvPr>
          <p:cNvSpPr>
            <a:spLocks/>
          </p:cNvSpPr>
          <p:nvPr/>
        </p:nvSpPr>
        <p:spPr>
          <a:xfrm>
            <a:off x="8782050" y="2600325"/>
            <a:ext cx="3067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1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1">
                <a:latin typeface="Arial"/>
                <a:ea typeface="Microsoft YaHei"/>
                <a:cs typeface="Microsoft YaHei"/>
              </a:rPr>
              <a:t>部分内部作业的排队等待</a:t>
            </a:r>
          </a:p>
        </p:txBody>
      </p:sp>
      <p:sp>
        <p:nvSpPr>
          <p:cNvPr id="19" name="">
            <a:extLst>
              <a:ext uri="{FF2B5EF4-FFF2-40B4-BE49-F238E27FC236}">
                <a16:creationId id="{A48E039B-C3EB-44A4-B20D-2B8342D911DF}"/>
              </a:ext>
            </a:extLst>
          </p:cNvPr>
          <p:cNvSpPr>
            <a:spLocks/>
          </p:cNvSpPr>
          <p:nvPr/>
        </p:nvSpPr>
        <p:spPr>
          <a:xfrm>
            <a:off x="8782050" y="3009900"/>
            <a:ext cx="30670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论文第四节与表一：多团队运行观察；未给出样本规模或标准化性能对照。</a:t>
            </a:r>
          </a:p>
        </p:txBody>
      </p:sp>
      <p:sp>
        <p:nvSpPr>
          <p:cNvPr id="20" name="">
            <a:extLst>
              <a:ext uri="{FF2B5EF4-FFF2-40B4-BE49-F238E27FC236}">
                <a16:creationId id="{7AC91050-CC9A-483A-8A20-D442AFF0C181}"/>
              </a:ext>
            </a:extLst>
          </p:cNvPr>
          <p:cNvSpPr>
            <a:spLocks/>
          </p:cNvSpPr>
          <p:nvPr/>
        </p:nvSpPr>
        <p:spPr>
          <a:xfrm>
            <a:off x="8782050" y="3914775"/>
            <a:ext cx="3067050" cy="9525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a16:creationId id="{CAB49049-6AA6-493E-82EF-1B674996A122}"/>
              </a:ext>
            </a:extLst>
          </p:cNvPr>
          <p:cNvSpPr>
            <a:spLocks/>
          </p:cNvSpPr>
          <p:nvPr/>
        </p:nvSpPr>
        <p:spPr>
          <a:xfrm>
            <a:off x="8782050" y="4095750"/>
            <a:ext cx="3067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75" b="1">
                <a:solidFill>
                  <a:srgbClr val="C7000B"/>
                </a:solidFill>
                <a:latin typeface="Arial"/>
                <a:ea typeface="Microsoft YaHei"/>
                <a:cs typeface="Microsoft YaHei"/>
              </a:defRPr>
            </a:pPr>
            <a:r>
              <a:rPr sz="1275" b="1">
                <a:latin typeface="Arial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2" name="">
            <a:extLst>
              <a:ext uri="{FF2B5EF4-FFF2-40B4-BE49-F238E27FC236}">
                <a16:creationId id="{62A590B4-C96A-4525-BEB1-4ABE4A3A2F96}"/>
              </a:ext>
            </a:extLst>
          </p:cNvPr>
          <p:cNvSpPr>
            <a:spLocks/>
          </p:cNvSpPr>
          <p:nvPr/>
        </p:nvSpPr>
        <p:spPr>
          <a:xfrm>
            <a:off x="8782050" y="4438650"/>
            <a:ext cx="30670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latin typeface="Arial"/>
                <a:ea typeface="Microsoft YaHei"/>
                <a:cs typeface="Microsoft YaHei"/>
              </a:rPr>
              <a:t>未证明单次推理加速；无 TPS、延迟分位数或完整成本数据。复用设备无需新增 GPU 采购，不等于总成本为零。</a:t>
            </a:r>
          </a:p>
        </p:txBody>
      </p:sp>
      <p:sp>
        <p:nvSpPr>
          <p:cNvPr id="23" name="">
            <a:extLst>
              <a:ext uri="{FF2B5EF4-FFF2-40B4-BE49-F238E27FC236}">
                <a16:creationId id="{54D24DE8-7F0A-45A0-9124-F1A378A87BA7}"/>
              </a:ext>
            </a:extLst>
          </p:cNvPr>
          <p:cNvSpPr>
            <a:spLocks/>
          </p:cNvSpPr>
          <p:nvPr/>
        </p:nvSpPr>
        <p:spPr>
          <a:xfrm>
            <a:off x="342900" y="6115050"/>
            <a:ext cx="542925" cy="542925"/>
          </a:xfrm>
          <a:prstGeom prst="rect">
            <a:avLst/>
          </a:prstGeom>
          <a:solidFill>
            <a:srgbClr val="C7000B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a16:creationId id="{8635ABD0-8A58-4FA8-8D0B-1ECE96ED1082}"/>
              </a:ext>
            </a:extLst>
          </p:cNvPr>
          <p:cNvSpPr>
            <a:spLocks/>
          </p:cNvSpPr>
          <p:nvPr/>
        </p:nvSpPr>
        <p:spPr>
          <a:xfrm>
            <a:off x="428625" y="6134100"/>
            <a:ext cx="4095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75" b="1">
                <a:solidFill>
                  <a:srgbClr val="FFFFFF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Microsoft YaHei"/>
                <a:cs typeface="Microsoft YaHei"/>
              </a:defRPr>
            </a:pPr>
            <a:r>
              <a:rPr sz="975" b="1">
                <a:latin typeface="Arial"/>
                <a:ea typeface="Microsoft YaHei"/>
                <a:cs typeface="Microsoft YaHei"/>
              </a:rPr>
              <a:t>洞察</a:t>
            </a:r>
          </a:p>
          <a:p>
            <a:pPr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Microsoft YaHei"/>
                <a:cs typeface="Microsoft YaHei"/>
              </a:defRPr>
            </a:pPr>
            <a:r>
              <a:rPr sz="975" b="1">
                <a:latin typeface="Arial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5" name="">
            <a:extLst>
              <a:ext uri="{FF2B5EF4-FFF2-40B4-BE49-F238E27FC236}">
                <a16:creationId id="{FB79B292-12A1-49D9-96FF-EDA66B8680FF}"/>
              </a:ext>
            </a:extLst>
          </p:cNvPr>
          <p:cNvSpPr>
            <a:spLocks/>
          </p:cNvSpPr>
          <p:nvPr/>
        </p:nvSpPr>
        <p:spPr>
          <a:xfrm>
            <a:off x="885825" y="6115050"/>
            <a:ext cx="10963275" cy="542925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</p:sp>
      <p:sp>
        <p:nvSpPr>
          <p:cNvPr id="26" name="">
            <a:extLst>
              <a:ext uri="{FF2B5EF4-FFF2-40B4-BE49-F238E27FC236}">
                <a16:creationId id="{7DCC87D3-3C35-40B3-AC48-7313AD84005B}"/>
              </a:ext>
            </a:extLst>
          </p:cNvPr>
          <p:cNvSpPr>
            <a:spLocks/>
          </p:cNvSpPr>
          <p:nvPr/>
        </p:nvSpPr>
        <p:spPr>
          <a:xfrm>
            <a:off x="1057275" y="6229350"/>
            <a:ext cx="10610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latin typeface="Arial"/>
                <a:ea typeface="Microsoft YaHei"/>
                <a:cs typeface="Microsoft YaHei"/>
              </a:rPr>
              <a:t>将闲置设备作为批量推理补充容量；试点时优先验证设备参与稳定性、失败重试、数据隔离及真实总成本。</a:t>
            </a:r>
          </a:p>
        </p:txBody>
      </p:sp>
      <p:sp>
        <p:nvSpPr>
          <p:cNvPr id="27" name="">
            <a:extLst>
              <a:ext uri="{FF2B5EF4-FFF2-40B4-BE49-F238E27FC236}">
                <a16:creationId id="{6C737BA1-AAD6-4169-AEDE-642ECFE11B50}"/>
              </a:ext>
            </a:extLst>
          </p:cNvPr>
          <p:cNvSpPr>
            <a:spLocks/>
          </p:cNvSpPr>
          <p:nvPr/>
        </p:nvSpPr>
        <p:spPr>
          <a:xfrm>
            <a:off x="342900" y="5876925"/>
            <a:ext cx="115062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666666"/>
                </a:solidFill>
                <a:latin typeface="Arial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900" b="0">
                <a:solidFill>
                  <a:srgbClr val="666666"/>
                </a:solidFill>
                <a:latin typeface="Arial"/>
                <a:ea typeface="Microsoft YaHei"/>
                <a:cs typeface="Microsoft YaHei"/>
              </a:defRPr>
            </a:pPr>
            <a:r>
              <a:rPr sz="900" b="0">
                <a:latin typeface="Arial"/>
                <a:ea typeface="Microsoft YaHei"/>
                <a:cs typeface="Microsoft YaHei"/>
              </a:rPr>
              <a:t>来源：Li 等，Minions，arXiv:2610.12970v1（2026-10-09），§2–4 / Figure 1 / Table 1；训练支持仍是未来工作。</a:t>
            </a:r>
          </a:p>
        </p:txBody>
      </p:sp>
    </p:spTree>
    <p:extLst>
      <p:ext uri="{BB962C8B-B14F-4D97-AF65-F5344CB8AC3E}">
        <p14:creationId val="611490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2026-10-16T00:13:18.8160000Z</dcterms:created>
  <dcterms:modified xsi:type="dcterms:W3CDTF">2026-10-16T00:13:18.8160000Z</dcterms:modified>
</coreProperties>
</file>