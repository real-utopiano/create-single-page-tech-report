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fa35970324ac9" /><Relationship Type="http://schemas.openxmlformats.org/officeDocument/2006/relationships/extended-properties" Target="/docProps/app.xml" Id="R247234ef7c234fac" /><Relationship Type="http://schemas.openxmlformats.org/officeDocument/2006/relationships/officeDocument" Target="/ppt/presentation.xml" Id="R954d78355c49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c9ac1e23ad4de8"/>
  </p:sldMasterIdLst>
  <p:notesMasterIdLst>
    <p:notesMasterId xmlns:r="http://schemas.openxmlformats.org/officeDocument/2006/relationships" r:id="R69dcb37f04954390"/>
  </p:notesMasterIdLst>
  <p:sldIdLst>
    <p:sldId xmlns:r="http://schemas.openxmlformats.org/officeDocument/2006/relationships" id="256" r:id="R3132752431424a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0e9f4c995946e4" /><Relationship Type="http://schemas.openxmlformats.org/officeDocument/2006/relationships/slideMaster" Target="/ppt/slideMasters/slideMaster1.xml" Id="R02c9ac1e23ad4de8" /><Relationship Type="http://schemas.openxmlformats.org/officeDocument/2006/relationships/notesMaster" Target="/ppt/notesMasters/notesMaster1.xml" Id="R69dcb37f04954390" /><Relationship Type="http://schemas.openxmlformats.org/officeDocument/2006/relationships/presProps" Target="/ppt/presProps.xml" Id="Re54efb8fde204f8d" /><Relationship Type="http://schemas.openxmlformats.org/officeDocument/2006/relationships/tableStyles" Target="/ppt/tableStyles.xml" Id="R21fea7830d0e49e8" /><Relationship Type="http://schemas.openxmlformats.org/officeDocument/2006/relationships/slide" Target="/ppt/slides/slide1.xml" Id="R3132752431424a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13986e6a846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7d686e31ee4869" /><Relationship Type="http://schemas.openxmlformats.org/officeDocument/2006/relationships/notesMaster" Target="/ppt/notesMasters/notesMaster1.xml" Id="R7a628f5f46ef44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来源[1] https://news.samsung.com/global/samsung-at-the-forefront-of-koreas-ai-ran-projects-with-kt-and-sk-telecom</a:t>
            </a:r>
          </a:p>
          <a:p xmlns:a="http://schemas.openxmlformats.org/drawingml/2006/main">
            <a:r>
              <a:t>来源[2] https://www.samsung.com/global/business/networks/insights/blog/0211-where-network-infrastructure-evolves-into-enterprise-edge-ai-platform-samsung-network-in-a-server/</a:t>
            </a:r>
          </a:p>
          <a:p xmlns:a="http://schemas.openxmlformats.org/drawingml/2006/main">
            <a:r>
              <a:t>官方公告描述2026年10月开始的安排，不代表已有实测完成结果。端到端联合验证属于本报告建议。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b80b0996343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6b3b76f5147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43e48c0704d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1952c6f6743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a761c1f9d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b0d7b61b647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82EE31-08D4-43D8-AD4A-A9326C2BB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14824E-A947-4977-8944-5CDACEF880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BD6109-8D0E-4A81-BD97-5E8CEFBA8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5F77A3-AC06-4737-AC85-FCBFAA324E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9DFA5B-622F-4D1F-A366-6FDEE0073B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86E36C-71FB-45E0-9FE6-A37EE3F57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CEF719-B41C-46E1-A8A9-F9BA5B322E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77C2A6-D064-42BE-963F-818FE04FAA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51C88F-CAE3-4CDB-A42C-84093A608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E8D083-727B-4A11-B460-D4A3D31A0E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bd823de0848cd" /><Relationship Type="http://schemas.openxmlformats.org/officeDocument/2006/relationships/slideLayout" Target="/ppt/slideLayouts/slideLayout1.xml" Id="R8319a19d64634f2c" /><Relationship Type="http://schemas.openxmlformats.org/officeDocument/2006/relationships/slideLayout" Target="/ppt/slideLayouts/slideLayout2.xml" Id="Rb87452207b434191" /><Relationship Type="http://schemas.openxmlformats.org/officeDocument/2006/relationships/slideLayout" Target="/ppt/slideLayouts/slideLayout3.xml" Id="R5d63696f32e64544" /><Relationship Type="http://schemas.openxmlformats.org/officeDocument/2006/relationships/slideLayout" Target="/ppt/slideLayouts/slideLayout4.xml" Id="R45e32020680c41c9" /><Relationship Type="http://schemas.openxmlformats.org/officeDocument/2006/relationships/slideLayout" Target="/ppt/slideLayouts/slideLayout5.xml" Id="R05d963dc703e4637" /><Relationship Type="http://schemas.openxmlformats.org/officeDocument/2006/relationships/slideLayout" Target="/ppt/slideLayouts/slideLayout6.xml" Id="Rad91296859f347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9a19d64634f2c"/>
    <p:sldLayoutId xmlns:r="http://schemas.openxmlformats.org/officeDocument/2006/relationships" id="2147483650" r:id="Rb87452207b434191"/>
    <p:sldLayoutId xmlns:r="http://schemas.openxmlformats.org/officeDocument/2006/relationships" id="2147483651" r:id="R5d63696f32e64544"/>
    <p:sldLayoutId xmlns:r="http://schemas.openxmlformats.org/officeDocument/2006/relationships" id="2147483652" r:id="R45e32020680c41c9"/>
    <p:sldLayoutId xmlns:r="http://schemas.openxmlformats.org/officeDocument/2006/relationships" id="2147483653" r:id="R05d963dc703e4637"/>
    <p:sldLayoutId xmlns:r="http://schemas.openxmlformats.org/officeDocument/2006/relationships" id="2147483654" r:id="Rad91296859f347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60aff91f24a14" /><Relationship Type="http://schemas.openxmlformats.org/officeDocument/2006/relationships/image" Target="/ppt/media/image.jpeg" Id="R893b3e82d93b463b" /><Relationship Type="http://schemas.openxmlformats.org/officeDocument/2006/relationships/image" Target="/ppt/media/image2.jpeg" Id="R9285512bed304488" /><Relationship Type="http://schemas.openxmlformats.org/officeDocument/2006/relationships/image" Target="/ppt/media/image3.jpeg" Id="Rd11f06c8cf05413b" /><Relationship Type="http://schemas.openxmlformats.org/officeDocument/2006/relationships/notesSlide" Target="/ppt/notesSlides/notesSlide1.xml" Id="R2630b0d3baeb45ad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">
            <a:extLst>
              <a:ext uri="{FF2B5EF4-FFF2-40B4-BE49-F238E27FC236}">
                <a16:creationId id="{7B2563CD-DDDE-4DAE-9396-F1FFDCDF1441}"/>
              </a:ext>
            </a:extLst>
          </p:cNvPr>
          <p:cNvSpPr>
            <a:spLocks/>
          </p:cNvSpPr>
          <p:nvPr/>
        </p:nvSpPr>
        <p:spPr>
          <a:xfrm>
            <a:off x="323850" y="228600"/>
            <a:ext cx="115443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latin typeface="Microsoft YaHei"/>
                <a:ea typeface="Microsoft YaHei"/>
                <a:cs typeface="Microsoft YaHei"/>
              </a:rPr>
              <a:t>三星以</a:t>
            </a:r>
            <a:r>
              <a:rPr sz="2250" b="1">
                <a:latin typeface="Arial"/>
                <a:ea typeface="Arial"/>
                <a:cs typeface="Arial"/>
              </a:rPr>
              <a:t> NIS </a:t>
            </a:r>
            <a:r>
              <a:rPr sz="2250" b="1">
                <a:latin typeface="Microsoft YaHei"/>
                <a:ea typeface="Microsoft YaHei"/>
                <a:cs typeface="Microsoft YaHei"/>
              </a:rPr>
              <a:t>将网络与</a:t>
            </a:r>
            <a:r>
              <a:rPr sz="2250" b="1">
                <a:latin typeface="Arial"/>
                <a:ea typeface="Arial"/>
                <a:cs typeface="Arial"/>
              </a:rPr>
              <a:t> AI </a:t>
            </a:r>
            <a:r>
              <a:rPr sz="2250" b="1">
                <a:latin typeface="Microsoft YaHei"/>
                <a:ea typeface="Microsoft YaHei"/>
                <a:cs typeface="Microsoft YaHei"/>
              </a:rPr>
              <a:t>放到工业现场，支撑机器人试点</a:t>
            </a:r>
          </a:p>
        </p:txBody>
      </p:sp>
      <p:sp>
        <p:nvSpPr>
          <p:cNvPr id="2" name="">
            <a:extLst>
              <a:ext uri="{FF2B5EF4-FFF2-40B4-BE49-F238E27FC236}">
                <a16:creationId id="{46917F78-7079-4820-A627-1FC89BB6D765}"/>
              </a:ext>
            </a:extLst>
          </p:cNvPr>
          <p:cNvSpPr>
            <a:spLocks/>
          </p:cNvSpPr>
          <p:nvPr/>
        </p:nvSpPr>
        <p:spPr>
          <a:xfrm>
            <a:off x="419100" y="838200"/>
            <a:ext cx="11334750" cy="62865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latin typeface="Arial"/>
                <a:ea typeface="Arial"/>
                <a:cs typeface="Arial"/>
              </a:rPr>
              <a:t>2026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年</a:t>
            </a:r>
            <a:r>
              <a:rPr sz="1200" b="0">
                <a:latin typeface="Arial"/>
                <a:ea typeface="Arial"/>
                <a:cs typeface="Arial"/>
              </a:rPr>
              <a:t>9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月</a:t>
            </a:r>
            <a:r>
              <a:rPr sz="1200" b="0">
                <a:latin typeface="Arial"/>
                <a:ea typeface="Arial"/>
                <a:cs typeface="Arial"/>
              </a:rPr>
              <a:t>23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日，三星宣布与</a:t>
            </a:r>
            <a:r>
              <a:rPr sz="1200" b="0">
                <a:latin typeface="Arial"/>
                <a:ea typeface="Arial"/>
                <a:cs typeface="Arial"/>
              </a:rPr>
              <a:t> KT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、</a:t>
            </a:r>
            <a:r>
              <a:rPr sz="1200" b="0">
                <a:latin typeface="Arial"/>
                <a:ea typeface="Arial"/>
                <a:cs typeface="Arial"/>
              </a:rPr>
              <a:t>SK Telecom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签约，计划于</a:t>
            </a:r>
            <a:r>
              <a:rPr sz="1200" b="0">
                <a:latin typeface="Arial"/>
                <a:ea typeface="Arial"/>
                <a:cs typeface="Arial"/>
              </a:rPr>
              <a:t>10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月启动工业</a:t>
            </a:r>
            <a:r>
              <a:rPr sz="1200" b="0">
                <a:latin typeface="Arial"/>
                <a:ea typeface="Arial"/>
                <a:cs typeface="Arial"/>
              </a:rPr>
              <a:t> 5G SA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专网试点，</a:t>
            </a:r>
          </a:p>
          <a:p>
            <a:pPr>
              <a:lnSpc>
                <a:spcPct val="150000"/>
              </a:lnSpc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latin typeface="Microsoft YaHei"/>
                <a:ea typeface="Microsoft YaHei"/>
                <a:cs typeface="Microsoft YaHei"/>
              </a:rPr>
              <a:t>以现场服务器整合网络功能与</a:t>
            </a:r>
            <a:r>
              <a:rPr sz="1200" b="0">
                <a:latin typeface="Arial"/>
                <a:ea typeface="Arial"/>
                <a:cs typeface="Arial"/>
              </a:rPr>
              <a:t> AI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应用，为</a:t>
            </a:r>
            <a:r>
              <a:rPr sz="1200" b="0">
                <a:latin typeface="Arial"/>
                <a:ea typeface="Arial"/>
                <a:cs typeface="Arial"/>
              </a:rPr>
              <a:t> AI-native 6G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积累经验；公告未披露试点量化收益。</a:t>
            </a:r>
          </a:p>
        </p:txBody>
      </p:sp>
      <p:sp>
        <p:nvSpPr>
          <p:cNvPr id="3" name="">
            <a:extLst>
              <a:ext uri="{FF2B5EF4-FFF2-40B4-BE49-F238E27FC236}">
                <a16:creationId id="{FED03E35-8AE8-4BF4-BB81-FFE75E0E7D77}"/>
              </a:ext>
            </a:extLst>
          </p:cNvPr>
          <p:cNvSpPr>
            <a:spLocks/>
          </p:cNvSpPr>
          <p:nvPr/>
        </p:nvSpPr>
        <p:spPr>
          <a:xfrm>
            <a:off x="323850" y="1685925"/>
            <a:ext cx="3638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latin typeface="Microsoft YaHei"/>
                <a:ea typeface="Microsoft YaHei"/>
                <a:cs typeface="Microsoft YaHei"/>
              </a:rPr>
              <a:t>平台机制：</a:t>
            </a:r>
            <a:r>
              <a:rPr sz="1425" b="1">
                <a:latin typeface="Arial"/>
                <a:ea typeface="Arial"/>
                <a:cs typeface="Arial"/>
              </a:rPr>
              <a:t>NIS 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就近承载网络和</a:t>
            </a:r>
            <a:r>
              <a:rPr sz="1425" b="1">
                <a:latin typeface="Arial"/>
                <a:ea typeface="Arial"/>
                <a:cs typeface="Arial"/>
              </a:rPr>
              <a:t> AI</a:t>
            </a:r>
          </a:p>
        </p:txBody>
      </p:sp>
      <p:sp>
        <p:nvSpPr>
          <p:cNvPr id="4" name="">
            <a:extLst>
              <a:ext uri="{FF2B5EF4-FFF2-40B4-BE49-F238E27FC236}">
                <a16:creationId id="{E823367A-F369-48EE-8B9C-BF821C6C9E60}"/>
              </a:ext>
            </a:extLst>
          </p:cNvPr>
          <p:cNvSpPr>
            <a:spLocks/>
          </p:cNvSpPr>
          <p:nvPr/>
        </p:nvSpPr>
        <p:spPr>
          <a:xfrm>
            <a:off x="4276725" y="1685925"/>
            <a:ext cx="3638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latin typeface="Arial"/>
                <a:ea typeface="Arial"/>
                <a:cs typeface="Arial"/>
              </a:rPr>
              <a:t>KT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：船厂焊接机器人试验</a:t>
            </a:r>
          </a:p>
        </p:txBody>
      </p:sp>
      <p:sp>
        <p:nvSpPr>
          <p:cNvPr id="5" name="">
            <a:extLst>
              <a:ext uri="{FF2B5EF4-FFF2-40B4-BE49-F238E27FC236}">
                <a16:creationId id="{00C5C5CF-3DC9-4223-8089-0218BAB854B4}"/>
              </a:ext>
            </a:extLst>
          </p:cNvPr>
          <p:cNvSpPr>
            <a:spLocks/>
          </p:cNvSpPr>
          <p:nvPr/>
        </p:nvSpPr>
        <p:spPr>
          <a:xfrm>
            <a:off x="8229600" y="1685925"/>
            <a:ext cx="3638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latin typeface="Arial"/>
                <a:ea typeface="Arial"/>
                <a:cs typeface="Arial"/>
              </a:rPr>
              <a:t>SK Telecom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：石化巡检验证</a:t>
            </a:r>
          </a:p>
        </p:txBody>
      </p:sp>
      <p:pic>
        <p:nvPicPr>
          <p:cNvPr id="6" name="">
            <a:extLst>
              <a:ext uri="{FF2B5EF4-FFF2-40B4-BE49-F238E27FC236}">
                <a16:creationId id="{06A9ECF7-1358-4676-9A9E-7B3AA9D2F066}"/>
              </a:ext>
            </a:extLst>
          </p:cNvPr>
          <p:cNvPicPr>
            <a:picLocks noChangeAspect="1"/>
          </p:cNvPicPr>
          <p:nvPr/>
        </p:nvPicPr>
        <p:blipFill>
          <a:blip r:embed="R893b3e82d93b463b"/>
          <a:stretch/>
        </p:blipFill>
        <p:spPr>
          <a:xfrm>
            <a:off x="323850" y="2077045"/>
            <a:ext cx="3638550" cy="2046684"/>
          </a:xfrm>
          <a:prstGeom prst="rect">
            <a:avLst/>
          </a:prstGeom>
        </p:spPr>
      </p:pic>
      <p:pic>
        <p:nvPicPr>
          <p:cNvPr id="7" name="">
            <a:extLst>
              <a:ext uri="{FF2B5EF4-FFF2-40B4-BE49-F238E27FC236}">
                <a16:creationId id="{29FE52F7-07E4-418C-959D-ECEE8B6722ED}"/>
              </a:ext>
            </a:extLst>
          </p:cNvPr>
          <p:cNvPicPr>
            <a:picLocks noChangeAspect="1"/>
          </p:cNvPicPr>
          <p:nvPr/>
        </p:nvPicPr>
        <p:blipFill>
          <a:blip r:embed="R9285512bed304488"/>
          <a:stretch/>
        </p:blipFill>
        <p:spPr>
          <a:xfrm>
            <a:off x="4276725" y="2077955"/>
            <a:ext cx="3638550" cy="2044865"/>
          </a:xfrm>
          <a:prstGeom prst="rect">
            <a:avLst/>
          </a:prstGeom>
        </p:spPr>
      </p:pic>
      <p:pic>
        <p:nvPicPr>
          <p:cNvPr id="8" name="">
            <a:extLst>
              <a:ext uri="{FF2B5EF4-FFF2-40B4-BE49-F238E27FC236}">
                <a16:creationId id="{1927D435-0FA1-4846-A506-4F51ADCF1435}"/>
              </a:ext>
            </a:extLst>
          </p:cNvPr>
          <p:cNvPicPr>
            <a:picLocks noChangeAspect="1"/>
          </p:cNvPicPr>
          <p:nvPr/>
        </p:nvPicPr>
        <p:blipFill>
          <a:blip r:embed="Rd11f06c8cf05413b"/>
          <a:stretch/>
        </p:blipFill>
        <p:spPr>
          <a:xfrm>
            <a:off x="8229600" y="2077955"/>
            <a:ext cx="3638550" cy="2044865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a16:creationId id="{862733F5-B367-4505-B02D-0FB498A5B458}"/>
              </a:ext>
            </a:extLst>
          </p:cNvPr>
          <p:cNvSpPr>
            <a:spLocks/>
          </p:cNvSpPr>
          <p:nvPr/>
        </p:nvSpPr>
        <p:spPr>
          <a:xfrm>
            <a:off x="323850" y="4162425"/>
            <a:ext cx="36385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825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825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latin typeface="Microsoft YaHei"/>
                <a:ea typeface="Microsoft YaHei"/>
                <a:cs typeface="Microsoft YaHei"/>
              </a:rPr>
              <a:t>官方架构原图，含可选</a:t>
            </a:r>
            <a:r>
              <a:rPr sz="825" b="0">
                <a:latin typeface="Arial"/>
                <a:ea typeface="Arial"/>
                <a:cs typeface="Arial"/>
              </a:rPr>
              <a:t> GPU </a:t>
            </a:r>
            <a:r>
              <a:rPr sz="825" b="0">
                <a:latin typeface="Microsoft YaHei"/>
                <a:ea typeface="Microsoft YaHei"/>
                <a:cs typeface="Microsoft YaHei"/>
              </a:rPr>
              <a:t>配置</a:t>
            </a:r>
            <a:r>
              <a:rPr sz="825" b="0">
                <a:latin typeface="Arial"/>
                <a:ea typeface="Arial"/>
                <a:cs typeface="Arial"/>
              </a:rPr>
              <a:t> [2]</a:t>
            </a:r>
          </a:p>
        </p:txBody>
      </p:sp>
      <p:sp>
        <p:nvSpPr>
          <p:cNvPr id="10" name="">
            <a:extLst>
              <a:ext uri="{FF2B5EF4-FFF2-40B4-BE49-F238E27FC236}">
                <a16:creationId id="{233A73D8-F720-483C-815C-6697366EB97A}"/>
              </a:ext>
            </a:extLst>
          </p:cNvPr>
          <p:cNvSpPr>
            <a:spLocks/>
          </p:cNvSpPr>
          <p:nvPr/>
        </p:nvSpPr>
        <p:spPr>
          <a:xfrm>
            <a:off x="4276725" y="4162425"/>
            <a:ext cx="36385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825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825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latin typeface="Microsoft YaHei"/>
                <a:ea typeface="Microsoft YaHei"/>
                <a:cs typeface="Microsoft YaHei"/>
              </a:rPr>
              <a:t>官方场景示意，未呈现现场试验数据</a:t>
            </a:r>
            <a:r>
              <a:rPr sz="825" b="0">
                <a:latin typeface="Arial"/>
                <a:ea typeface="Arial"/>
                <a:cs typeface="Arial"/>
              </a:rPr>
              <a:t> [1]</a:t>
            </a:r>
          </a:p>
        </p:txBody>
      </p:sp>
      <p:sp>
        <p:nvSpPr>
          <p:cNvPr id="11" name="">
            <a:extLst>
              <a:ext uri="{FF2B5EF4-FFF2-40B4-BE49-F238E27FC236}">
                <a16:creationId id="{E8B9F3D6-4A1F-4A52-8EDD-0B63003D0D8A}"/>
              </a:ext>
            </a:extLst>
          </p:cNvPr>
          <p:cNvSpPr>
            <a:spLocks/>
          </p:cNvSpPr>
          <p:nvPr/>
        </p:nvSpPr>
        <p:spPr>
          <a:xfrm>
            <a:off x="8229600" y="4162425"/>
            <a:ext cx="36385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825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825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latin typeface="Microsoft YaHei"/>
                <a:ea typeface="Microsoft YaHei"/>
                <a:cs typeface="Microsoft YaHei"/>
              </a:rPr>
              <a:t>官方场景示意，未呈现现场试验数据</a:t>
            </a:r>
            <a:r>
              <a:rPr sz="825" b="0">
                <a:latin typeface="Arial"/>
                <a:ea typeface="Arial"/>
                <a:cs typeface="Arial"/>
              </a:rPr>
              <a:t> [1]</a:t>
            </a:r>
          </a:p>
        </p:txBody>
      </p:sp>
      <p:sp>
        <p:nvSpPr>
          <p:cNvPr id="12" name="">
            <a:extLst>
              <a:ext uri="{FF2B5EF4-FFF2-40B4-BE49-F238E27FC236}">
                <a16:creationId id="{FEADC708-DCFE-480C-9528-8E1A7171DD6B}"/>
              </a:ext>
            </a:extLst>
          </p:cNvPr>
          <p:cNvSpPr>
            <a:spLocks/>
          </p:cNvSpPr>
          <p:nvPr/>
        </p:nvSpPr>
        <p:spPr>
          <a:xfrm>
            <a:off x="323850" y="4457700"/>
            <a:ext cx="36385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集成功能：</a:t>
            </a:r>
            <a:r>
              <a:rPr sz="1125" b="0">
                <a:latin typeface="Arial"/>
                <a:ea typeface="Arial"/>
                <a:cs typeface="Arial"/>
              </a:rPr>
              <a:t>vRAN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、</a:t>
            </a:r>
            <a:r>
              <a:rPr sz="1125" b="0">
                <a:latin typeface="Arial"/>
                <a:ea typeface="Arial"/>
                <a:cs typeface="Arial"/>
              </a:rPr>
              <a:t>5G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核心网与</a:t>
            </a:r>
            <a:r>
              <a:rPr sz="1125" b="0">
                <a:latin typeface="Arial"/>
                <a:ea typeface="Arial"/>
                <a:cs typeface="Arial"/>
              </a:rPr>
              <a:t> AI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应用</a:t>
            </a:r>
          </a:p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现场部署：通用服务器承载，本地处理数据</a:t>
            </a:r>
          </a:p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扩展方式：</a:t>
            </a:r>
            <a:r>
              <a:rPr sz="1125" b="0">
                <a:latin typeface="Arial"/>
                <a:ea typeface="Arial"/>
                <a:cs typeface="Arial"/>
              </a:rPr>
              <a:t>CPU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为基础，按需加入</a:t>
            </a:r>
            <a:r>
              <a:rPr sz="1125" b="0">
                <a:latin typeface="Arial"/>
                <a:ea typeface="Arial"/>
                <a:cs typeface="Arial"/>
              </a:rPr>
              <a:t> GPU</a:t>
            </a:r>
          </a:p>
        </p:txBody>
      </p:sp>
      <p:sp>
        <p:nvSpPr>
          <p:cNvPr id="13" name="">
            <a:extLst>
              <a:ext uri="{FF2B5EF4-FFF2-40B4-BE49-F238E27FC236}">
                <a16:creationId id="{92E932D2-B741-40A3-8C4B-F36D37F5F71A}"/>
              </a:ext>
            </a:extLst>
          </p:cNvPr>
          <p:cNvSpPr>
            <a:spLocks/>
          </p:cNvSpPr>
          <p:nvPr/>
        </p:nvSpPr>
        <p:spPr>
          <a:xfrm>
            <a:off x="4276725" y="4457700"/>
            <a:ext cx="36385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地点：</a:t>
            </a:r>
            <a:r>
              <a:rPr sz="1125" b="0">
                <a:latin typeface="Arial"/>
                <a:ea typeface="Arial"/>
                <a:cs typeface="Arial"/>
              </a:rPr>
              <a:t>HD Hyundai Samho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的</a:t>
            </a:r>
            <a:r>
              <a:rPr sz="1125" b="0">
                <a:latin typeface="Arial"/>
                <a:ea typeface="Arial"/>
                <a:cs typeface="Arial"/>
              </a:rPr>
              <a:t> Yeongam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船厂</a:t>
            </a:r>
          </a:p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计划：验证焊接、喷涂及设施运维机器人</a:t>
            </a:r>
          </a:p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支撑：</a:t>
            </a:r>
            <a:r>
              <a:rPr sz="1125" b="0">
                <a:latin typeface="Arial"/>
                <a:ea typeface="Arial"/>
                <a:cs typeface="Arial"/>
              </a:rPr>
              <a:t>5G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连接、</a:t>
            </a:r>
            <a:r>
              <a:rPr sz="1125" b="0">
                <a:latin typeface="Arial"/>
                <a:ea typeface="Arial"/>
                <a:cs typeface="Arial"/>
              </a:rPr>
              <a:t>NIS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与</a:t>
            </a:r>
            <a:r>
              <a:rPr sz="1125" b="0">
                <a:latin typeface="Arial"/>
                <a:ea typeface="Arial"/>
                <a:cs typeface="Arial"/>
              </a:rPr>
              <a:t> CognitiV NOS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14" name="">
            <a:extLst>
              <a:ext uri="{FF2B5EF4-FFF2-40B4-BE49-F238E27FC236}">
                <a16:creationId id="{40E557E4-7A66-4CD5-BA40-69FAAD7811C1}"/>
              </a:ext>
            </a:extLst>
          </p:cNvPr>
          <p:cNvSpPr>
            <a:spLocks/>
          </p:cNvSpPr>
          <p:nvPr/>
        </p:nvSpPr>
        <p:spPr>
          <a:xfrm>
            <a:off x="8229600" y="4457700"/>
            <a:ext cx="36385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地点：</a:t>
            </a:r>
            <a:r>
              <a:rPr sz="1125" b="0">
                <a:latin typeface="Arial"/>
                <a:ea typeface="Arial"/>
                <a:cs typeface="Arial"/>
              </a:rPr>
              <a:t>SK Incheon Petrochem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石化设施</a:t>
            </a:r>
          </a:p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计划：危险区域巡检机器人与</a:t>
            </a:r>
            <a:r>
              <a:rPr sz="1125" b="0">
                <a:latin typeface="Arial"/>
                <a:ea typeface="Arial"/>
                <a:cs typeface="Arial"/>
              </a:rPr>
              <a:t> CCTV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监控</a:t>
            </a:r>
          </a:p>
          <a:p>
            <a:pPr>
              <a:lnSpc>
                <a:spcPct val="15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latin typeface="Microsoft YaHei"/>
                <a:ea typeface="Microsoft YaHei"/>
                <a:cs typeface="Microsoft YaHei"/>
              </a:rPr>
              <a:t>链路：移动高清视频回传，</a:t>
            </a:r>
            <a:r>
              <a:rPr sz="1125" b="0">
                <a:latin typeface="Arial"/>
                <a:ea typeface="Arial"/>
                <a:cs typeface="Arial"/>
              </a:rPr>
              <a:t>AI </a:t>
            </a:r>
            <a:r>
              <a:rPr sz="1125" b="0">
                <a:latin typeface="Microsoft YaHei"/>
                <a:ea typeface="Microsoft YaHei"/>
                <a:cs typeface="Microsoft YaHei"/>
              </a:rPr>
              <a:t>辅助风险识别</a:t>
            </a:r>
          </a:p>
        </p:txBody>
      </p:sp>
      <p:sp>
        <p:nvSpPr>
          <p:cNvPr id="15" name="">
            <a:extLst>
              <a:ext uri="{FF2B5EF4-FFF2-40B4-BE49-F238E27FC236}">
                <a16:creationId id="{D90C9147-D3C1-456C-A15C-FB7A521CAE34}"/>
              </a:ext>
            </a:extLst>
          </p:cNvPr>
          <p:cNvSpPr>
            <a:spLocks/>
          </p:cNvSpPr>
          <p:nvPr/>
        </p:nvSpPr>
        <p:spPr>
          <a:xfrm>
            <a:off x="323850" y="5410200"/>
            <a:ext cx="11544300" cy="295275"/>
          </a:xfrm>
          <a:prstGeom prst="rect">
            <a:avLst/>
          </a:prstGeom>
          <a:solidFill>
            <a:srgbClr val="FFF1EF"/>
          </a:solidFill>
          <a:ln w="0">
            <a:noFill/>
          </a:ln>
        </p:spPr>
        <p:txBody>
          <a:bodyPr wrap="square" lIns="0" tIns="0" rIns="0" bIns="0" anchor="t"/>
          <a:lstStyle>
            <a:defPPr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latin typeface="Microsoft YaHei"/>
                <a:ea typeface="Microsoft YaHei"/>
                <a:cs typeface="Microsoft YaHei"/>
              </a:rPr>
              <a:t>证据边界：低时延、高可靠与稳定吞吐量是业务需求，未给出实测成绩。现有承载为</a:t>
            </a:r>
            <a:r>
              <a:rPr sz="1050" b="1">
                <a:latin typeface="Arial"/>
                <a:ea typeface="Arial"/>
                <a:cs typeface="Arial"/>
              </a:rPr>
              <a:t> 5G SA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，</a:t>
            </a:r>
            <a:r>
              <a:rPr sz="1050" b="1">
                <a:latin typeface="Arial"/>
                <a:ea typeface="Arial"/>
                <a:cs typeface="Arial"/>
              </a:rPr>
              <a:t>6G </a:t>
            </a:r>
            <a:r>
              <a:rPr sz="1050" b="1">
                <a:latin typeface="Microsoft YaHei"/>
                <a:ea typeface="Microsoft YaHei"/>
                <a:cs typeface="Microsoft YaHei"/>
              </a:rPr>
              <a:t>为后续研究方向。</a:t>
            </a:r>
          </a:p>
        </p:txBody>
      </p:sp>
      <p:sp>
        <p:nvSpPr>
          <p:cNvPr id="16" name="">
            <a:extLst>
              <a:ext uri="{FF2B5EF4-FFF2-40B4-BE49-F238E27FC236}">
                <a16:creationId id="{15D86B84-4842-4F65-AEA5-FEB9730F4DC1}"/>
              </a:ext>
            </a:extLst>
          </p:cNvPr>
          <p:cNvSpPr>
            <a:spLocks/>
          </p:cNvSpPr>
          <p:nvPr/>
        </p:nvSpPr>
        <p:spPr>
          <a:xfrm>
            <a:off x="323850" y="5838825"/>
            <a:ext cx="628650" cy="628650"/>
          </a:xfrm>
          <a:prstGeom prst="rect">
            <a:avLst/>
          </a:prstGeom>
          <a:solidFill>
            <a:srgbClr val="C7000B"/>
          </a:solidFill>
          <a:ln w="0">
            <a:noFill/>
          </a:ln>
        </p:spPr>
        <p:txBody>
          <a:bodyPr wrap="square" lIns="0" tIns="0" rIns="0" bIns="0" anchor="t"/>
          <a:lstStyle>
            <a:def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5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洞察</a:t>
            </a:r>
          </a:p>
          <a:p>
            <a:pPr algn="ctr">
              <a:lnSpc>
                <a:spcPct val="15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17" name="">
            <a:extLst>
              <a:ext uri="{FF2B5EF4-FFF2-40B4-BE49-F238E27FC236}">
                <a16:creationId id="{4A6A7883-62F7-4484-8BC9-9F50FBBF364C}"/>
              </a:ext>
            </a:extLst>
          </p:cNvPr>
          <p:cNvSpPr>
            <a:spLocks/>
          </p:cNvSpPr>
          <p:nvPr/>
        </p:nvSpPr>
        <p:spPr>
          <a:xfrm>
            <a:off x="1076325" y="5886450"/>
            <a:ext cx="10629900" cy="5715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latin typeface="Microsoft YaHei"/>
                <a:ea typeface="Microsoft YaHei"/>
                <a:cs typeface="Microsoft YaHei"/>
              </a:rPr>
              <a:t>工业</a:t>
            </a:r>
            <a:r>
              <a:rPr sz="1200" b="0">
                <a:latin typeface="Arial"/>
                <a:ea typeface="Arial"/>
                <a:cs typeface="Arial"/>
              </a:rPr>
              <a:t> AI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让连接与本地计算共同成为网络能力。推进类似试点时，应联合验证端到端时延、</a:t>
            </a:r>
          </a:p>
          <a:p>
            <a:pPr>
              <a:lnSpc>
                <a:spcPct val="150000"/>
              </a:lnSpc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latin typeface="Microsoft YaHei"/>
                <a:ea typeface="Microsoft YaHei"/>
                <a:cs typeface="Microsoft YaHei"/>
              </a:rPr>
              <a:t>移动视频稳定性及应用任务成功率，再判断部署收益。</a:t>
            </a:r>
          </a:p>
        </p:txBody>
      </p:sp>
      <p:sp>
        <p:nvSpPr>
          <p:cNvPr id="18" name="">
            <a:extLst>
              <a:ext uri="{FF2B5EF4-FFF2-40B4-BE49-F238E27FC236}">
                <a16:creationId id="{3FADC56D-587F-4129-8DF3-0AC72EB164A2}"/>
              </a:ext>
            </a:extLst>
          </p:cNvPr>
          <p:cNvSpPr>
            <a:spLocks/>
          </p:cNvSpPr>
          <p:nvPr/>
        </p:nvSpPr>
        <p:spPr>
          <a:xfrm>
            <a:off x="323850" y="6600825"/>
            <a:ext cx="115443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750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buNone/>
              <a:defRPr sz="750" b="0">
                <a:solidFill>
                  <a:srgbClr val="7373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latin typeface="Arial"/>
                <a:ea typeface="Arial"/>
                <a:cs typeface="Arial"/>
              </a:rPr>
              <a:t>[1] Samsung Global Newsroom</a:t>
            </a:r>
            <a:r>
              <a:rPr sz="750" b="0">
                <a:latin typeface="Microsoft YaHei"/>
                <a:ea typeface="Microsoft YaHei"/>
                <a:cs typeface="Microsoft YaHei"/>
              </a:rPr>
              <a:t>，</a:t>
            </a:r>
            <a:r>
              <a:rPr sz="750" b="0">
                <a:latin typeface="Arial"/>
                <a:ea typeface="Arial"/>
                <a:cs typeface="Arial"/>
              </a:rPr>
              <a:t>2026-09-23   [2] Samsung Networks</a:t>
            </a:r>
            <a:r>
              <a:rPr sz="750" b="0">
                <a:latin typeface="Microsoft YaHei"/>
                <a:ea typeface="Microsoft YaHei"/>
                <a:cs typeface="Microsoft YaHei"/>
              </a:rPr>
              <a:t>，</a:t>
            </a:r>
            <a:r>
              <a:rPr sz="750" b="0">
                <a:latin typeface="Arial"/>
                <a:ea typeface="Arial"/>
                <a:cs typeface="Arial"/>
              </a:rPr>
              <a:t>2026-02-12</a:t>
            </a:r>
            <a:r>
              <a:rPr sz="750" b="0">
                <a:latin typeface="Microsoft YaHei"/>
                <a:ea typeface="Microsoft YaHei"/>
                <a:cs typeface="Microsoft YaHei"/>
              </a:rPr>
              <a:t>。均为三星官方来源，未提供独立验收材料。</a:t>
            </a:r>
          </a:p>
        </p:txBody>
      </p:sp>
    </p:spTree>
    <p:extLst>
      <p:ext uri="{BB962C8B-B14F-4D97-AF65-F5344CB8AC3E}">
        <p14:creationId val="731258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2026-10-16T00:38:41.9100000Z</dcterms:created>
  <dcterms:modified xsi:type="dcterms:W3CDTF">2026-10-16T00:38:41.9100000Z</dcterms:modified>
</coreProperties>
</file>